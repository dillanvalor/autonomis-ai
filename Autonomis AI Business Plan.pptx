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84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27432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29400" y="27432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52360" y="27432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0" y="27432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29400" y="109728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52360" y="109728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63840" y="109728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109728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29400" y="192024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40880" y="192024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52360" y="192024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63840" y="192024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75320" y="192024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274320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274320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40880" y="274320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52360" y="274320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63840" y="274320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75320" y="274320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17920" y="356616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356616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40880" y="356616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52360" y="356616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63840" y="356616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75320" y="3566160"/>
            <a:ext cx="54864" cy="54864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731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4572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8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45720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Intelligence. On Your Terms.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" y="2423160"/>
            <a:ext cx="4114800" cy="27432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2606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&amp; Investment Proposal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Review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583680" y="1920240"/>
            <a:ext cx="1828800" cy="27432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21031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</a:t>
            </a:r>
            <a:r>
              <a:rPr lang="en-US" sz="12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SMB &amp; Enterprise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r>
              <a:rPr lang="en-US" sz="1200" b="1" dirty="0"/>
              <a:t> </a:t>
            </a:r>
            <a:r>
              <a:rPr lang="en-US" sz="12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MRR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Verticals:</a:t>
            </a:r>
            <a:r>
              <a:rPr lang="en-US" sz="1200" b="1" dirty="0"/>
              <a:t> </a:t>
            </a:r>
            <a:r>
              <a:rPr lang="en-US" sz="12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· Finance · Medical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demands a tradeoff that compliance-sensitive businesses cannot accept.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2651760" cy="31089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80160" y="1783080"/>
            <a:ext cx="731520" cy="731520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745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651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sent to ChatGPT, Copilot, or cloud AI leaves the organization's control. Client data, case files, and financial records are exposed to third-party infrastructure.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645920"/>
            <a:ext cx="2651760" cy="31089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731520" cy="731520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8745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651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37560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HIPAA, attorney-client privilege, IRS data handling rules, and SOX all impose strict requirements on where sensitive data can be processed. Cloud AI fails this test.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0760" y="1645920"/>
            <a:ext cx="2651760" cy="31089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040880" y="1783080"/>
            <a:ext cx="731520" cy="731520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87452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2651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Dependency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17920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models, API outages, policy changes, and price hikes leave businesses at the mercy of external providers with no guaranteed continuity.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self-contained AI platform that lives inside the client's own infrastructure.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3200400"/>
          </a:xfrm>
          <a:prstGeom prst="rect">
            <a:avLst/>
          </a:prstGeom>
          <a:solidFill>
            <a:srgbClr val="1E3A6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31920" cy="73152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Otto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Private AI Assistant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inside the client's network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leaves the building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per user via M365 SSO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internal SOPs and documentation via RAG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screenshots and images for tech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public internet by design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20240" cy="1508760"/>
          </a:xfrm>
          <a:prstGeom prst="rect">
            <a:avLst/>
          </a:prstGeom>
          <a:solidFill>
            <a:srgbClr val="15264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57800" y="1508760"/>
            <a:ext cx="731520" cy="731520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0020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6344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Exposure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63440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on-premises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66560" y="1325880"/>
            <a:ext cx="1920240" cy="1508760"/>
          </a:xfrm>
          <a:prstGeom prst="rect">
            <a:avLst/>
          </a:prstGeom>
          <a:solidFill>
            <a:srgbClr val="15264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60920" y="1508760"/>
            <a:ext cx="731520" cy="731520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60020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SSO Auth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766560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identity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63440" y="3017520"/>
            <a:ext cx="1920240" cy="1508760"/>
          </a:xfrm>
          <a:prstGeom prst="rect">
            <a:avLst/>
          </a:prstGeom>
          <a:solidFill>
            <a:srgbClr val="15264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257800" y="3200400"/>
            <a:ext cx="731520" cy="731520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29184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6344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Document Intelligence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663440" y="4233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manuals, policies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66560" y="3017520"/>
            <a:ext cx="1920240" cy="1508760"/>
          </a:xfrm>
          <a:prstGeom prst="rect">
            <a:avLst/>
          </a:prstGeom>
          <a:solidFill>
            <a:srgbClr val="15264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360920" y="3200400"/>
            <a:ext cx="731520" cy="731520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329184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6656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Isolated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766560" y="4233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VPN-only access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MSP client relationships across three high-value compliance-driven verticals.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43200" cy="777240"/>
          </a:xfrm>
          <a:prstGeom prst="rect">
            <a:avLst/>
          </a:prstGeom>
          <a:solidFill>
            <a:srgbClr val="8B2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627632"/>
            <a:ext cx="530352" cy="530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508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84048" y="235915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firms bound by attorney-client privilege and ABA ethics rules cannot use cloud AI for any client-related work.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84048" y="32004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&amp; drafting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research assistant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intake document processing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and policy Q&amp;A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4048" y="4187952"/>
            <a:ext cx="1188720" cy="32004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4048" y="4187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691640" y="4187952"/>
            <a:ext cx="1234440" cy="320040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691640" y="4187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users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0" y="150876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00400" y="1508760"/>
            <a:ext cx="2743200" cy="777240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91840" y="160020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627632"/>
            <a:ext cx="530352" cy="5303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77640" y="1508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Tax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310128" y="235915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and financial firms face IRS data handling requirements, SOX compliance, and state privacy laws on all client financial data.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310128" y="32004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code Q&amp;A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document summarization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10128" y="4187952"/>
            <a:ext cx="1188720" cy="32004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310128" y="4187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617720" y="4187952"/>
            <a:ext cx="1234440" cy="320040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617720" y="4187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10–50 users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126480" y="150876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126480" y="1508760"/>
            <a:ext cx="2743200" cy="777240"/>
          </a:xfrm>
          <a:prstGeom prst="rect">
            <a:avLst/>
          </a:prstGeom>
          <a:solidFill>
            <a:srgbClr val="0A4D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217920" y="160020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627632"/>
            <a:ext cx="530352" cy="53035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03720" y="1508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6236208" y="235915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organizations under HIPAA cannot process patient information through any external AI pipeline under any circumstance.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236208" y="32004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SOP lookup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 summarization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documentation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236208" y="4187952"/>
            <a:ext cx="1188720" cy="32004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236208" y="4187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/ Gold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7543800" y="4187952"/>
            <a:ext cx="1234440" cy="320040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7543800" y="4187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25–200+ users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integrated, containerized stack — deployed once, managed remotely by your MSP team.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749808"/>
          </a:xfrm>
          <a:prstGeom prst="rect">
            <a:avLst/>
          </a:prstGeom>
          <a:solidFill>
            <a:srgbClr val="1A4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828800" cy="749808"/>
          </a:xfrm>
          <a:prstGeom prst="rect">
            <a:avLst/>
          </a:prstGeom>
          <a:solidFill>
            <a:srgbClr val="2D7DD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23444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LibreChat Web Interface  ·  M365 SSO (Entra ID)  ·  Per-User Sessions  ·  Image Upload Support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984248"/>
            <a:ext cx="0" cy="9144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8412480" cy="749808"/>
          </a:xfrm>
          <a:prstGeom prst="rect">
            <a:avLst/>
          </a:prstGeom>
          <a:solidFill>
            <a:srgbClr val="14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1828800" cy="749808"/>
          </a:xfrm>
          <a:prstGeom prst="rect">
            <a:avLst/>
          </a:prstGeom>
          <a:solidFill>
            <a:srgbClr val="2D7DD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07568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2075688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Inference Engine  ·  Primary LLM  ·  Qwen2.5-VL Vision Model  ·  Containerized via Docker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0560" y="2825496"/>
            <a:ext cx="0" cy="9144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16936"/>
            <a:ext cx="8412480" cy="749808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1828800" cy="749808"/>
          </a:xfrm>
          <a:prstGeom prst="rect">
            <a:avLst/>
          </a:prstGeom>
          <a:solidFill>
            <a:srgbClr val="2D7DD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916936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916936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 ·  Qdrant Vector DB  ·  bge-large Embeddings (1024-dim)  ·  Document Ingestion (Docling)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80560" y="3666744"/>
            <a:ext cx="0" cy="9144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758184"/>
            <a:ext cx="8412480" cy="749808"/>
          </a:xfrm>
          <a:prstGeom prst="rect">
            <a:avLst/>
          </a:prstGeom>
          <a:solidFill>
            <a:srgbClr val="5C3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758184"/>
            <a:ext cx="1828800" cy="749808"/>
          </a:xfrm>
          <a:prstGeom prst="rect">
            <a:avLst/>
          </a:prstGeom>
          <a:solidFill>
            <a:srgbClr val="2D7DD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75818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3758184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PowerEdge Server  ·  NVIDIA GPU (Ada)  ·  Ubuntu Server LTS  ·  Private Network Only (VPN)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06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Network Boundary: Accessible only via site-to-site VPN  |  No public IP  |  No cloud routing  |  Internal DNS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PRODUCT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solidFill>
            <a:srgbClr val="CD7F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Law &amp; Tax Offices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084832"/>
            <a:ext cx="1645920" cy="36576"/>
          </a:xfrm>
          <a:prstGeom prst="rect">
            <a:avLst/>
          </a:prstGeom>
          <a:solidFill>
            <a:srgbClr val="C8D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194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5–25 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4871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RTX 6000 Ada (48GB)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77977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256GB DDR5 ECC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0723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Xeon Gold 5318Y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364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4TB NVMe SSD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2743200" cy="9601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Sale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$21,000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$650/mo support  |  + $3,000 setup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8A9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Medical &amp; Financial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2084832"/>
            <a:ext cx="1645920" cy="36576"/>
          </a:xfrm>
          <a:prstGeom prst="rect">
            <a:avLst/>
          </a:prstGeom>
          <a:solidFill>
            <a:srgbClr val="C8D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10128" y="2194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25–75 Users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24871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RTX 6000 Ada (96GB)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277977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512GB DDR5 ECC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30723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Xeon Gold 6338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3364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8TB NVMe SSD RAID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703320"/>
            <a:ext cx="2743200" cy="9601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Sale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3977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$46,000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291840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$1,500/mo support  |  + $6,000 setup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100584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1792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Medical Institutions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2084832"/>
            <a:ext cx="1645920" cy="36576"/>
          </a:xfrm>
          <a:prstGeom prst="rect">
            <a:avLst/>
          </a:prstGeom>
          <a:solidFill>
            <a:srgbClr val="C8D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36208" y="2194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75–200+ Users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24871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RTX 6000 Ada (192GB)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277977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1TB DDR5 ECC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30723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Xeon Platinum 8360Y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36208" y="3364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0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16TB NVMe SSD RAID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3703320"/>
            <a:ext cx="2743200" cy="9601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1792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Sale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977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$96,000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217920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$3,200/mo support  |  + $12,000 setup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CD7F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TIER — HARDWARE BILL OF MATERIALS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60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47672" y="960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/ Specification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93792" y="960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36792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47672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PowerEdge T560 Tower (Base Config)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93792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36792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ProSupport included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508760"/>
            <a:ext cx="8595360" cy="27432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47672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Xeon Gold 5318Y (24C/48T, 2.1GHz)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w/ server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6792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at order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78308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47672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256GB DDR5 ECC RDIMM (8× 32GB)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36792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Error-correcting for stability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057400"/>
            <a:ext cx="8595360" cy="27432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47672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6000 Ada Generation (48GB GDDR6)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6792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&amp; vision inference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33172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(OS)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47672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480GB SATA SSD RAID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93792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36792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+ Docker containers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606040"/>
            <a:ext cx="8595360" cy="27432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(Data)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47672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2TB NVMe SSD (PCIe Gen4)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36792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vector DB, documents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88036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7472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47672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X710-DA2 10GbE Dual Port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93792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36792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LAN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154680"/>
            <a:ext cx="8595360" cy="27432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7472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947672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 Smart-UPS 1500VA LCD RM 2U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93792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36792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protection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7472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Power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947672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PCIe Power Adapter / Riser Kit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93792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36792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6000 Ada fitment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7472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License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947672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24.04 LTS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193792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36792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3977640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47472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947672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config, VPN integration, SSO wiring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193792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36792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— one-time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47472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947672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 (BRONZE)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193792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$19,010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336792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74320" y="46817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Hardware sale price to client: $21,000–$25,000 depending on configuration. GPU pricing verified Feb 2026 — order soon as component prices are rising.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2296" cy="914400"/>
          </a:xfrm>
          <a:prstGeom prst="rect">
            <a:avLst/>
          </a:prstGeom>
          <a:solidFill>
            <a:srgbClr val="8A9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" y="0"/>
            <a:ext cx="82296" cy="9144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&amp; GOLD TIERS — HARDWARE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8A9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TIER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60520" cy="33832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41732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80160" y="1417320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PowerEdge R750xa (2U Rack)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7872" y="141732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41605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0" y="1755648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Intel Xeon Gold 6338 (2× 32C)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47872" y="1755648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$6,200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093976"/>
            <a:ext cx="4160520" cy="33832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0" y="2093976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512GB DDR5 ECC RDIMM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47872" y="209397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432304"/>
            <a:ext cx="41605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80160" y="2432304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NVIDIA RTX 6000 Ada (2× 48GB = 96GB)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47872" y="2432304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$13,600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770632"/>
            <a:ext cx="4160520" cy="33832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80160" y="277063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8TB NVMe SSD (2× 4TB PCIe Gen4) RAID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47872" y="2770632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41605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80160" y="3108960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Mellanox ConnectX-5 25GbE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47872" y="310896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447288"/>
            <a:ext cx="4160520" cy="33832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280160" y="3447288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 Smart-UPS 2200VA RM 2U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47872" y="3447288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785616"/>
            <a:ext cx="41605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37856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280160" y="3785616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config, integration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47872" y="378561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123944"/>
            <a:ext cx="4160520" cy="338328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7472" y="412394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280160" y="4123944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Investment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547872" y="4123944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$39,880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17720" y="987552"/>
            <a:ext cx="4160520" cy="38404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17720" y="987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TIER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617720" y="1417320"/>
            <a:ext cx="4160520" cy="33832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690872" y="141732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23560" y="1417320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PowerEdge R760xa (2U Rack)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891272" y="141732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$14,500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17720" y="1755648"/>
            <a:ext cx="41605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90872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23560" y="1755648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Intel Xeon Platinum 8360Y (2× 36C)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891272" y="1755648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$11,200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17720" y="2093976"/>
            <a:ext cx="4160520" cy="33832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90872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623560" y="2093976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1TB (1024GB) DDR5 ECC RDIMM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891272" y="209397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$6,400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17720" y="2432304"/>
            <a:ext cx="41605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90872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623560" y="2432304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NVIDIA RTX 6000 Ada (4× 48GB = 192GB)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891272" y="2432304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$27,200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17720" y="2770632"/>
            <a:ext cx="4160520" cy="33832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690872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623560" y="277063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16TB NVMe SSD RAID 10 Configuration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891272" y="2770632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$2,200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617720" y="3108960"/>
            <a:ext cx="41605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690872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623560" y="3108960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Mellanox ConnectX-6 100GbE Dual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891272" y="310896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$1,100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617720" y="3447288"/>
            <a:ext cx="4160520" cy="33832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690872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623560" y="3447288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 Smart-UPS 3000VA RM 2U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891272" y="3447288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$1,400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617720" y="3785616"/>
            <a:ext cx="41605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690872" y="37856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623560" y="3785616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deployment, HA config, integration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891272" y="378561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617720" y="4123944"/>
            <a:ext cx="4160520" cy="338328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690872" y="412394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623560" y="4123944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Investment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891272" y="4123944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$75,800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Client sale prices: Silver $46,000–$52,000  |  Gold $96,000–$110,000  |  Plus monthly support + setup labor  |  GPU pricing verified Feb 2026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&amp; PROJECTIONS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sale + ongoing monthly support contract — two revenue streams per client.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1371600"/>
          </a:xfrm>
          <a:prstGeom prst="rect">
            <a:avLst/>
          </a:prstGeom>
          <a:solidFill>
            <a:srgbClr val="1E3A6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HARDWARE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$21,000–$25,000
</a:t>
            </a:r>
            <a:r>
              <a:rPr lang="en-US" sz="12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Silver: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$46,000–$52,000
</a:t>
            </a:r>
            <a:r>
              <a:rPr lang="en-US" sz="12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$96,000–$110,000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234440"/>
            <a:ext cx="4206240" cy="1371600"/>
          </a:xfrm>
          <a:prstGeom prst="rect">
            <a:avLst/>
          </a:prstGeom>
          <a:solidFill>
            <a:srgbClr val="1E3A6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 (MRR)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6916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$650/mo  (model updates, support, monitoring)
</a:t>
            </a:r>
            <a:r>
              <a:rPr lang="en-US" sz="12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Silver: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$1,500/mo
</a:t>
            </a:r>
            <a:r>
              <a:rPr lang="en-US" sz="12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$3,200/mo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SCENARIO — 6 CLIENTS (conservative)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27248"/>
            <a:ext cx="8412480" cy="347472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31272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31272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Revenue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3127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MRR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5240" y="3127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8412480" cy="347472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Bronze + 1× Silver + 1× Gold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474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$238,000–$277,000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$96,600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3474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$334,600–$373,600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822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Bronze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38221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$126,000–$150,000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8221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$46,800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35240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$172,800–$196,800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69664"/>
            <a:ext cx="8412480" cy="347472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169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Silver + 1× Gold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41696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41696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$234,000–$266,000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1696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$75,600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$309,600–$341,600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AUTONOMIS — COMPETITIVE LANDSCAPE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28600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1463040" cy="411480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1005840"/>
            <a:ext cx="1463040" cy="411480"/>
          </a:xfrm>
          <a:prstGeom prst="rect">
            <a:avLst/>
          </a:prstGeom>
          <a:solidFill>
            <a:srgbClr val="8A2B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6052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1005840"/>
            <a:ext cx="1645920" cy="411480"/>
          </a:xfrm>
          <a:prstGeom prst="rect">
            <a:avLst/>
          </a:prstGeom>
          <a:solidFill>
            <a:srgbClr val="8A2B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0" y="1005840"/>
            <a:ext cx="1463040" cy="411480"/>
          </a:xfrm>
          <a:prstGeom prst="rect">
            <a:avLst/>
          </a:prstGeom>
          <a:solidFill>
            <a:srgbClr val="5C3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6092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Open Source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417320"/>
            <a:ext cx="2286000" cy="356616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417320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on-premises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1417320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51760" y="141732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0" y="1417320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60520" y="141732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1417320"/>
            <a:ext cx="164592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0" y="1417320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1417320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60920" y="141732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1773936"/>
            <a:ext cx="2286000" cy="356616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1773936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/ compliance-ready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1773936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51760" y="177393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14800" y="1773936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60520" y="177393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1773936"/>
            <a:ext cx="164592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0" y="1773936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1773936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60920" y="177393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130552"/>
            <a:ext cx="2286000" cy="356616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2130552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per-seat cloud fees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2130552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51760" y="213055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14800" y="2130552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60520" y="213055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($21–$30/user/mo)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23560" y="2130552"/>
            <a:ext cx="164592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69280" y="2130552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($25/user/mo)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0" y="2130552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60920" y="213055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2487168"/>
            <a:ext cx="2286000" cy="356616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2487168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screenshot analysis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06040" y="2487168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651760" y="2487168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114800" y="2487168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160520" y="2487168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23560" y="2487168"/>
            <a:ext cx="164592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669280" y="2487168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15200" y="2487168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360920" y="2487168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2843784"/>
            <a:ext cx="2286000" cy="356616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2843784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on internal documents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06040" y="2843784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651760" y="2843784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114800" y="2843784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60520" y="2843784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623560" y="2843784"/>
            <a:ext cx="164592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669280" y="2843784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315200" y="2843784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360920" y="2843784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200400"/>
            <a:ext cx="2286000" cy="356616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0040" y="3200400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SSO integration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606040" y="3200400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651760" y="320040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4114800" y="3200400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160520" y="320040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623560" y="3200400"/>
            <a:ext cx="164592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669280" y="3200400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315200" y="3200400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360920" y="320040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3557016"/>
            <a:ext cx="2286000" cy="356616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20040" y="3557016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local MSP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606040" y="3557016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651760" y="355701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4114800" y="3557016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160520" y="355701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623560" y="3557016"/>
            <a:ext cx="164592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669280" y="3557016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315200" y="3557016"/>
            <a:ext cx="1463040" cy="35661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360920" y="355701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74320" y="3913632"/>
            <a:ext cx="2286000" cy="356616"/>
          </a:xfrm>
          <a:prstGeom prst="rect">
            <a:avLst/>
          </a:prstGeom>
          <a:solidFill>
            <a:srgbClr val="1526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20040" y="3913632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capital + low MRR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606040" y="3913632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651760" y="391363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4114800" y="3913632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160520" y="391363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623560" y="3913632"/>
            <a:ext cx="164592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669280" y="3913632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315200" y="3913632"/>
            <a:ext cx="14630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7360920" y="391363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3520440"/>
          </a:xfrm>
          <a:prstGeom prst="rect">
            <a:avLst/>
          </a:prstGeom>
          <a:solidFill>
            <a:srgbClr val="1A4C8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54864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Prototype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Month 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463040" cy="27432"/>
          </a:xfrm>
          <a:prstGeom prst="rect">
            <a:avLst/>
          </a:prstGeom>
          <a:solidFill>
            <a:srgbClr val="2D7DD2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Bronze stack in-office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validation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vision, RAG, SSO, VPN isolation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and model tuning needs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1097280"/>
            <a:ext cx="2011680" cy="3520440"/>
          </a:xfrm>
          <a:prstGeom prst="rect">
            <a:avLst/>
          </a:prstGeom>
          <a:solidFill>
            <a:srgbClr val="145C6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42032" y="1097280"/>
            <a:ext cx="2011680" cy="54864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42032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1444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Client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— Month 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16352" y="2103120"/>
            <a:ext cx="1463040" cy="27432"/>
          </a:xfrm>
          <a:prstGeom prst="rect">
            <a:avLst/>
          </a:prstGeom>
          <a:solidFill>
            <a:srgbClr val="2D7DD2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33472" y="221284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 law or tax client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Bronze tier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SOP ingestion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feedback, refine offering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18304" y="1097280"/>
            <a:ext cx="2011680" cy="3520440"/>
          </a:xfrm>
          <a:prstGeom prst="rect">
            <a:avLst/>
          </a:prstGeom>
          <a:solidFill>
            <a:srgbClr val="1A5C3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8304" y="1097280"/>
            <a:ext cx="2011680" cy="54864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8304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1444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Launch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18304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 — Month 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92624" y="2103120"/>
            <a:ext cx="1463040" cy="27432"/>
          </a:xfrm>
          <a:prstGeom prst="rect">
            <a:avLst/>
          </a:prstGeom>
          <a:solidFill>
            <a:srgbClr val="2D7DD2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9744" y="221284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4–6 MSP clients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pricing + contracts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SOW templates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Silver tier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1097280"/>
            <a:ext cx="2011680" cy="3520440"/>
          </a:xfrm>
          <a:prstGeom prst="rect">
            <a:avLst/>
          </a:prstGeom>
          <a:solidFill>
            <a:srgbClr val="5C3A1A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94576" y="1097280"/>
            <a:ext cx="2011680" cy="54864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94576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1444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94576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10+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68896" y="2103120"/>
            <a:ext cx="1463040" cy="27432"/>
          </a:xfrm>
          <a:prstGeom prst="rect">
            <a:avLst/>
          </a:prstGeom>
          <a:solidFill>
            <a:srgbClr val="2D7DD2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86016" y="221284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tier deployment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white-label to other MSPs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 staffing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 SLA formalized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MITIGATION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9456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82296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33472" y="1005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544068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100584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8595360" cy="50292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3898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Failure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499616"/>
            <a:ext cx="64008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51760" y="14996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47872" y="1389888"/>
            <a:ext cx="5367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ProSupport 5-year warranty included. Redundant NVMe storage on all tiers. UPS on every deployment.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92808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1892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Becomes Outdated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2002536"/>
            <a:ext cx="64008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2002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47872" y="1892808"/>
            <a:ext cx="5367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support contract includes model update service. vLLM allows hot-swap of models without downtime.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95728"/>
            <a:ext cx="8595360" cy="50292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3957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Adoption / ROI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2505456"/>
            <a:ext cx="64008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51760" y="25054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47872" y="2395728"/>
            <a:ext cx="5367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MSP relationships lower acquisition risk. Pilot deployment validates ROI before broader rollout.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898648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28986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Capital Outlay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3008376"/>
            <a:ext cx="64008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51760" y="3008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47872" y="2898648"/>
            <a:ext cx="5367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prototype hardware (~$17K) funds internal validation. No external client investment until prototype proven.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401568"/>
            <a:ext cx="8595360" cy="50292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Response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51760" y="3511296"/>
            <a:ext cx="64008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51760" y="3511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47872" y="3401568"/>
            <a:ext cx="5367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providers cannot offer on-premises compliance. Local MSP management is a structural moat.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904488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3904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/ Expertise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51760" y="4014216"/>
            <a:ext cx="64008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51760" y="40142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47872" y="3904488"/>
            <a:ext cx="5367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validates internal team capabilities. Document runbooks during Phase 1 for repeatable deployment.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Bronze prototype hardware to prove the platform works at scale before committing to client deployments.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669280" cy="804672"/>
          </a:xfrm>
          <a:prstGeom prst="rect">
            <a:avLst/>
          </a:prstGeom>
          <a:solidFill>
            <a:srgbClr val="15264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73152" cy="804672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8745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9293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Hardware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258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~$16,000 in Bronze tier hardware to deploy internally and validate the full stack with 11 techs.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5669280" cy="804672"/>
          </a:xfrm>
          <a:prstGeom prst="rect">
            <a:avLst/>
          </a:prstGeom>
          <a:solidFill>
            <a:srgbClr val="15264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73152" cy="804672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7889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28437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Labor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1729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~$3,000 in setup and deployment labor to wire up SSO, VPN, RAG, and the full platform.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669280" cy="804672"/>
          </a:xfrm>
          <a:prstGeom prst="rect">
            <a:avLst/>
          </a:prstGeom>
          <a:solidFill>
            <a:srgbClr val="15264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73152" cy="804672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7033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37581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 Request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087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~$19,000 one-time. ROI on a single Bronze client sale fully recovers this within the first deployment.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640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75120" y="1097280"/>
            <a:ext cx="2103120" cy="27432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1234440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hardware budget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Bronze tier components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internal prototype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internal validation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first pilot client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deploy pilot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 AI  |  Private Intelligence. On Your Terms.  —  Private Intelligence. Built for Compliance.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1767</Words>
  <Application>Microsoft Office PowerPoint</Application>
  <PresentationFormat>On-screen Show (16:9)</PresentationFormat>
  <Paragraphs>383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Autonomis AI – Business Plan</dc:title>
  <dc:subject>PptxGenJS Presentation</dc:subject>
  <dc:creator>PptxGenJS</dc:creator>
  <cp:lastModifiedBy>Dillan Valor</cp:lastModifiedBy>
  <cp:revision>2</cp:revision>
  <dcterms:created xsi:type="dcterms:W3CDTF">2026-02-26T21:12:46Z</dcterms:created>
  <dcterms:modified xsi:type="dcterms:W3CDTF">2026-02-26T21:20:00Z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5f465c0-a16c-4481-9029-46a8793dc598_Enabled">
    <vt:lpwstr>true</vt:lpwstr>
  </property>
  <property fmtid="{D5CDD505-2E9C-101B-9397-08002B2CF9AE}" pid="3" name="MSIP_Label_35f465c0-a16c-4481-9029-46a8793dc598_SetDate">
    <vt:lpwstr>2026-02-26T21:20:00Z</vt:lpwstr>
  </property>
  <property fmtid="{D5CDD505-2E9C-101B-9397-08002B2CF9AE}" pid="4" name="MSIP_Label_35f465c0-a16c-4481-9029-46a8793dc598_Method">
    <vt:lpwstr>Standard</vt:lpwstr>
  </property>
  <property fmtid="{D5CDD505-2E9C-101B-9397-08002B2CF9AE}" pid="5" name="MSIP_Label_35f465c0-a16c-4481-9029-46a8793dc598_Name">
    <vt:lpwstr>defa4170-0d19-0005-0004-bc88714345d2</vt:lpwstr>
  </property>
  <property fmtid="{D5CDD505-2E9C-101B-9397-08002B2CF9AE}" pid="6" name="MSIP_Label_35f465c0-a16c-4481-9029-46a8793dc598_SiteId">
    <vt:lpwstr>20f5fa88-eb52-4a4e-bd40-7f429613f123</vt:lpwstr>
  </property>
  <property fmtid="{D5CDD505-2E9C-101B-9397-08002B2CF9AE}" pid="7" name="MSIP_Label_35f465c0-a16c-4481-9029-46a8793dc598_ActionId">
    <vt:lpwstr>dd8220cb-ad5e-4ff7-bdb1-d3f43a24929b</vt:lpwstr>
  </property>
  <property fmtid="{D5CDD505-2E9C-101B-9397-08002B2CF9AE}" pid="8" name="MSIP_Label_35f465c0-a16c-4481-9029-46a8793dc598_ContentBits">
    <vt:lpwstr>0</vt:lpwstr>
  </property>
  <property fmtid="{D5CDD505-2E9C-101B-9397-08002B2CF9AE}" pid="9" name="MSIP_Label_35f465c0-a16c-4481-9029-46a8793dc598_Tag">
    <vt:lpwstr>10, 3, 0, 1</vt:lpwstr>
  </property>
</Properties>
</file>